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0348" y="777240"/>
            <a:ext cx="2048256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</p:spPr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228" y="960120"/>
            <a:ext cx="1682496" cy="16824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017520"/>
            <a:ext cx="121889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MedOrbit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23360"/>
            <a:ext cx="12188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20" dirty="0">
                <a:solidFill>
                  <a:srgbClr val="C9D2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Healthcare Platform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814316" y="4681728"/>
            <a:ext cx="2560320" cy="27432"/>
          </a:xfrm>
          <a:prstGeom prst="rect">
            <a:avLst/>
          </a:prstGeom>
          <a:solidFill>
            <a:srgbClr val="8FA3F0"/>
          </a:solidFill>
        </p:spPr>
      </p:sp>
      <p:sp>
        <p:nvSpPr>
          <p:cNvPr id="7" name="Text 4"/>
          <p:cNvSpPr txBox="1"/>
          <p:nvPr/>
        </p:nvSpPr>
        <p:spPr>
          <a:xfrm>
            <a:off x="0" y="4937760"/>
            <a:ext cx="12188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 Ghassan Abdullah Dawood     ·     Omar Abdullah Sadeq Abu Mazen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0" y="5367528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D2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 Dr. Bashar Tahyana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0" y="5797296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Engineering  ·  An-Najah National University  ·  2026</a:t>
            </a:r>
            <a:endParaRPr lang="en-US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984" y="2011287"/>
            <a:ext cx="2048434" cy="20484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77463" y="4186106"/>
            <a:ext cx="25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Scan the QR to get a try! 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Healthcare access is fragmented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71116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6" name="Text 3"/>
          <p:cNvSpPr txBox="1"/>
          <p:nvPr/>
        </p:nvSpPr>
        <p:spPr>
          <a:xfrm>
            <a:off x="640080" y="20711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8308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Scattered discovery.  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ar-SA" alt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a trusted doctor or clinic is spread across disconnected sources.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3122676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9" name="Text 6"/>
          <p:cNvSpPr txBox="1"/>
          <p:nvPr/>
        </p:nvSpPr>
        <p:spPr>
          <a:xfrm>
            <a:off x="640080" y="31226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08931" y="283464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Disconnected records.  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ar-SA" alt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Appointments, medical records and prescriptions live in separate places.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4174236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9"/>
          <p:cNvSpPr txBox="1"/>
          <p:nvPr/>
        </p:nvSpPr>
        <p:spPr>
          <a:xfrm>
            <a:off x="640080" y="41742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88620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guidance.  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ar-SA" alt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often don't know which specialty fits their symptoms.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5225796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2"/>
          <p:cNvSpPr txBox="1"/>
          <p:nvPr/>
        </p:nvSpPr>
        <p:spPr>
          <a:xfrm>
            <a:off x="640080" y="52257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93776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Siloed roles.  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ar-SA" alt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Patients, doctors, clinics and administrators use unrelated tools.</a:t>
            </a:r>
            <a:endParaRPr lang="en-US" sz="2000" dirty="0"/>
          </a:p>
        </p:txBody>
      </p:sp>
      <p:pic>
        <p:nvPicPr>
          <p:cNvPr id="17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unified healthcare platform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role, both clients and all intelligence on a single shared backend.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2468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24028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Patient</a:t>
            </a:r>
          </a:p>
        </p:txBody>
      </p:sp>
      <p:sp>
        <p:nvSpPr>
          <p:cNvPr id="8" name="Shape 5"/>
          <p:cNvSpPr/>
          <p:nvPr/>
        </p:nvSpPr>
        <p:spPr>
          <a:xfrm>
            <a:off x="3453384" y="2240280"/>
            <a:ext cx="2468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3384" y="224028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Doctor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66688" y="2240280"/>
            <a:ext cx="2468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6688" y="224028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9079992" y="2240280"/>
            <a:ext cx="2468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79992" y="224028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</a:t>
            </a:r>
          </a:p>
        </p:txBody>
      </p:sp>
      <p:sp>
        <p:nvSpPr>
          <p:cNvPr id="14" name="Shape 11"/>
          <p:cNvSpPr/>
          <p:nvPr/>
        </p:nvSpPr>
        <p:spPr>
          <a:xfrm>
            <a:off x="1874520" y="2953512"/>
            <a:ext cx="4219956" cy="658368"/>
          </a:xfrm>
          <a:prstGeom prst="line">
            <a:avLst/>
          </a:prstGeom>
          <a:noFill/>
          <a:ln w="25400">
            <a:solidFill>
              <a:srgbClr val="A9B1C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87824" y="2953512"/>
            <a:ext cx="1406652" cy="658368"/>
          </a:xfrm>
          <a:prstGeom prst="line">
            <a:avLst/>
          </a:prstGeom>
          <a:noFill/>
          <a:ln w="25400">
            <a:solidFill>
              <a:srgbClr val="A9B1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094476" y="2953512"/>
            <a:ext cx="1406652" cy="658368"/>
          </a:xfrm>
          <a:prstGeom prst="line">
            <a:avLst/>
          </a:prstGeom>
          <a:noFill/>
          <a:ln w="25400">
            <a:solidFill>
              <a:srgbClr val="A9B1C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6094476" y="2953512"/>
            <a:ext cx="4219956" cy="658368"/>
          </a:xfrm>
          <a:prstGeom prst="line">
            <a:avLst/>
          </a:prstGeom>
          <a:noFill/>
          <a:ln w="25400">
            <a:solidFill>
              <a:srgbClr val="A9B1C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94476" y="3465576"/>
            <a:ext cx="0" cy="146304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442716" y="361188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0F1A3D"/>
          </a:solidFill>
        </p:spPr>
      </p:sp>
      <p:sp>
        <p:nvSpPr>
          <p:cNvPr id="20" name="Text 17"/>
          <p:cNvSpPr txBox="1"/>
          <p:nvPr/>
        </p:nvSpPr>
        <p:spPr>
          <a:xfrm>
            <a:off x="3442716" y="3611880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MedOrbit  ·  Web + Mobile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094476" y="4480560"/>
            <a:ext cx="0" cy="164592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1874520" y="4645152"/>
            <a:ext cx="4219956" cy="338328"/>
          </a:xfrm>
          <a:prstGeom prst="line">
            <a:avLst/>
          </a:prstGeom>
          <a:noFill/>
          <a:ln w="25400">
            <a:solidFill>
              <a:srgbClr val="A9B1C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4687824" y="4645152"/>
            <a:ext cx="1406652" cy="338328"/>
          </a:xfrm>
          <a:prstGeom prst="line">
            <a:avLst/>
          </a:prstGeom>
          <a:noFill/>
          <a:ln w="25400">
            <a:solidFill>
              <a:srgbClr val="A9B1C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94476" y="4645152"/>
            <a:ext cx="1406652" cy="338328"/>
          </a:xfrm>
          <a:prstGeom prst="line">
            <a:avLst/>
          </a:prstGeom>
          <a:noFill/>
          <a:ln w="25400">
            <a:solidFill>
              <a:srgbClr val="A9B1C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94476" y="4645152"/>
            <a:ext cx="4219956" cy="338328"/>
          </a:xfrm>
          <a:prstGeom prst="line">
            <a:avLst/>
          </a:prstGeom>
          <a:noFill/>
          <a:ln w="25400">
            <a:solidFill>
              <a:srgbClr val="A9B1C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4983480"/>
            <a:ext cx="2468880" cy="713232"/>
          </a:xfrm>
          <a:prstGeom prst="roundRect">
            <a:avLst>
              <a:gd name="adj" fmla="val 11538"/>
            </a:avLst>
          </a:prstGeom>
          <a:solidFill>
            <a:srgbClr val="F7F9FE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3232" y="4983480"/>
            <a:ext cx="232257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 API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3453384" y="4983480"/>
            <a:ext cx="2468880" cy="713232"/>
          </a:xfrm>
          <a:prstGeom prst="roundRect">
            <a:avLst>
              <a:gd name="adj" fmla="val 11538"/>
            </a:avLst>
          </a:prstGeom>
          <a:solidFill>
            <a:srgbClr val="F7F9FE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17570" y="4983480"/>
            <a:ext cx="2432050" cy="713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PostgreSQL + PostGIS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6266688" y="4983480"/>
            <a:ext cx="2468880" cy="713232"/>
          </a:xfrm>
          <a:prstGeom prst="roundRect">
            <a:avLst>
              <a:gd name="adj" fmla="val 11538"/>
            </a:avLst>
          </a:prstGeom>
          <a:solidFill>
            <a:srgbClr val="F7F9FE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39840" y="4983480"/>
            <a:ext cx="232257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Service</a:t>
            </a:r>
            <a:endParaRPr lang="en-US" sz="2400" dirty="0"/>
          </a:p>
        </p:txBody>
      </p:sp>
      <p:sp>
        <p:nvSpPr>
          <p:cNvPr id="32" name="Shape 29"/>
          <p:cNvSpPr/>
          <p:nvPr/>
        </p:nvSpPr>
        <p:spPr>
          <a:xfrm>
            <a:off x="9079992" y="4983480"/>
            <a:ext cx="2468880" cy="713232"/>
          </a:xfrm>
          <a:prstGeom prst="roundRect">
            <a:avLst>
              <a:gd name="adj" fmla="val 11538"/>
            </a:avLst>
          </a:prstGeom>
          <a:solidFill>
            <a:srgbClr val="F7F9FE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53144" y="4983480"/>
            <a:ext cx="232257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Events + Real-Time</a:t>
            </a:r>
            <a:endParaRPr lang="en-US" sz="2400" dirty="0"/>
          </a:p>
        </p:txBody>
      </p:sp>
      <p:pic>
        <p:nvPicPr>
          <p:cNvPr id="3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SCOPE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Who uses MedOrbit?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distinct roles, each with its own interface and its own authorization rules.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976933" cy="38862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Shape 5"/>
          <p:cNvSpPr/>
          <p:nvPr/>
        </p:nvSpPr>
        <p:spPr>
          <a:xfrm>
            <a:off x="932688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6"/>
          <p:cNvSpPr txBox="1"/>
          <p:nvPr/>
        </p:nvSpPr>
        <p:spPr>
          <a:xfrm>
            <a:off x="932688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035808"/>
            <a:ext cx="142829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Patient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657600"/>
            <a:ext cx="1428293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 care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health data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health tools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873045" y="2103120"/>
            <a:ext cx="1976933" cy="38862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77617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4" name="Shape 11"/>
          <p:cNvSpPr/>
          <p:nvPr/>
        </p:nvSpPr>
        <p:spPr>
          <a:xfrm>
            <a:off x="3165653" y="237744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2"/>
          <p:cNvSpPr txBox="1"/>
          <p:nvPr/>
        </p:nvSpPr>
        <p:spPr>
          <a:xfrm>
            <a:off x="3165653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165653" y="3035808"/>
            <a:ext cx="142829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Doctor</a:t>
            </a:r>
          </a:p>
        </p:txBody>
      </p:sp>
      <p:sp>
        <p:nvSpPr>
          <p:cNvPr id="17" name="Text 14"/>
          <p:cNvSpPr txBox="1"/>
          <p:nvPr/>
        </p:nvSpPr>
        <p:spPr>
          <a:xfrm>
            <a:off x="3165653" y="3657600"/>
            <a:ext cx="1428293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&amp; schedule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&amp; prescriptions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posts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106010" y="2103120"/>
            <a:ext cx="1976933" cy="38862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1058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Shape 17"/>
          <p:cNvSpPr/>
          <p:nvPr/>
        </p:nvSpPr>
        <p:spPr>
          <a:xfrm>
            <a:off x="5398618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8"/>
          <p:cNvSpPr txBox="1"/>
          <p:nvPr/>
        </p:nvSpPr>
        <p:spPr>
          <a:xfrm>
            <a:off x="5398618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398618" y="3035808"/>
            <a:ext cx="142829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5398618" y="3657600"/>
            <a:ext cx="1428293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Facility workspace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Invite doctors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services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7338974" y="2103120"/>
            <a:ext cx="1976933" cy="38862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43546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6" name="Shape 23"/>
          <p:cNvSpPr/>
          <p:nvPr/>
        </p:nvSpPr>
        <p:spPr>
          <a:xfrm>
            <a:off x="7631582" y="237744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7" name="Text 24"/>
          <p:cNvSpPr txBox="1"/>
          <p:nvPr/>
        </p:nvSpPr>
        <p:spPr>
          <a:xfrm>
            <a:off x="7631582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631582" y="3035808"/>
            <a:ext cx="142829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</a:t>
            </a:r>
          </a:p>
        </p:txBody>
      </p:sp>
      <p:sp>
        <p:nvSpPr>
          <p:cNvPr id="29" name="Text 26"/>
          <p:cNvSpPr txBox="1"/>
          <p:nvPr/>
        </p:nvSpPr>
        <p:spPr>
          <a:xfrm>
            <a:off x="7631582" y="3657600"/>
            <a:ext cx="1428293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&amp; applications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moderation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trail</a:t>
            </a: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9571990" y="2103120"/>
            <a:ext cx="2181225" cy="38862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576511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2" name="Shape 29"/>
          <p:cNvSpPr/>
          <p:nvPr/>
        </p:nvSpPr>
        <p:spPr>
          <a:xfrm>
            <a:off x="9864547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3" name="Text 30"/>
          <p:cNvSpPr txBox="1"/>
          <p:nvPr/>
        </p:nvSpPr>
        <p:spPr>
          <a:xfrm>
            <a:off x="9864547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9693910" y="3035935"/>
            <a:ext cx="1938020" cy="567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SuperAdmin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9864725" y="3698240"/>
            <a:ext cx="1428115" cy="2062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privileges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Invite admins</a:t>
            </a:r>
            <a:endParaRPr lang="en-US" dirty="0"/>
          </a:p>
        </p:txBody>
      </p:sp>
      <p:pic>
        <p:nvPicPr>
          <p:cNvPr id="36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>
                    <a:alpha val="38000"/>
                  </a:srgb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Platform Features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9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each role can actually do on the platform today.</a:t>
            </a:r>
            <a:endParaRPr lang="en-US" sz="19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032" y="52578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Patient experience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71116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6" name="Text 3"/>
          <p:cNvSpPr txBox="1"/>
          <p:nvPr/>
        </p:nvSpPr>
        <p:spPr>
          <a:xfrm>
            <a:off x="640080" y="20711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8308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 care.  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doctors by specialty and find clinics on an interactive map.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3122676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9" name="Text 6"/>
          <p:cNvSpPr txBox="1"/>
          <p:nvPr/>
        </p:nvSpPr>
        <p:spPr>
          <a:xfrm>
            <a:off x="640080" y="31226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3464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appointments.   </a:t>
            </a:r>
            <a:b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0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real availability and reserve a slot in a guided flow.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4174236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9"/>
          <p:cNvSpPr txBox="1"/>
          <p:nvPr/>
        </p:nvSpPr>
        <p:spPr>
          <a:xfrm>
            <a:off x="640080" y="41742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88620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health data.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 records, prescriptions and personal reports in one place.</a:t>
            </a:r>
          </a:p>
        </p:txBody>
      </p:sp>
      <p:sp>
        <p:nvSpPr>
          <p:cNvPr id="14" name="Shape 11"/>
          <p:cNvSpPr/>
          <p:nvPr/>
        </p:nvSpPr>
        <p:spPr>
          <a:xfrm>
            <a:off x="640080" y="5225796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2"/>
          <p:cNvSpPr txBox="1"/>
          <p:nvPr/>
        </p:nvSpPr>
        <p:spPr>
          <a:xfrm>
            <a:off x="640080" y="52257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93776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 connected. 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your doctor, follow health posts and receive notifications.</a:t>
            </a:r>
          </a:p>
        </p:txBody>
      </p:sp>
      <p:pic>
        <p:nvPicPr>
          <p:cNvPr id="17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Doctor workspace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71116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6" name="Text 3"/>
          <p:cNvSpPr txBox="1"/>
          <p:nvPr/>
        </p:nvSpPr>
        <p:spPr>
          <a:xfrm>
            <a:off x="640080" y="20711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8308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profile.   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Specialty, experience, expertise and clinic affiliation.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3122676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9" name="Text 6"/>
          <p:cNvSpPr txBox="1"/>
          <p:nvPr/>
        </p:nvSpPr>
        <p:spPr>
          <a:xfrm>
            <a:off x="640080" y="31226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3464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 &amp; appointments.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availability rules, then confirm and complete visits.</a:t>
            </a:r>
          </a:p>
        </p:txBody>
      </p:sp>
      <p:sp>
        <p:nvSpPr>
          <p:cNvPr id="11" name="Shape 8"/>
          <p:cNvSpPr/>
          <p:nvPr/>
        </p:nvSpPr>
        <p:spPr>
          <a:xfrm>
            <a:off x="640080" y="4174236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9"/>
          <p:cNvSpPr txBox="1"/>
          <p:nvPr/>
        </p:nvSpPr>
        <p:spPr>
          <a:xfrm>
            <a:off x="640080" y="41742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88620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care.   </a:t>
            </a:r>
            <a:b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Assigned patients, medical records and clinical notes.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5225796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2"/>
          <p:cNvSpPr txBox="1"/>
          <p:nvPr/>
        </p:nvSpPr>
        <p:spPr>
          <a:xfrm>
            <a:off x="640080" y="52257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93776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Prescriptions.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 prescriptions with AI-assisted interaction warnings.</a:t>
            </a:r>
            <a:endParaRPr lang="en-US" sz="2000" dirty="0"/>
          </a:p>
        </p:txBody>
      </p:sp>
      <p:pic>
        <p:nvPicPr>
          <p:cNvPr id="17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 workspace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clinic is a first-class account type, not just a record inside the directory.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351151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7" name="Text 4"/>
          <p:cNvSpPr txBox="1"/>
          <p:nvPr/>
        </p:nvSpPr>
        <p:spPr>
          <a:xfrm>
            <a:off x="640080" y="2351151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03120"/>
            <a:ext cx="10131552" cy="97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and get verified.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facility applies, an administrator reviews and approves it.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322701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0" name="Text 7"/>
          <p:cNvSpPr txBox="1"/>
          <p:nvPr/>
        </p:nvSpPr>
        <p:spPr>
          <a:xfrm>
            <a:off x="640080" y="3322701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3074670"/>
            <a:ext cx="10131552" cy="97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the facility.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Services, location, contact details and verified contact emails.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40080" y="4294251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0"/>
          <p:cNvSpPr txBox="1"/>
          <p:nvPr/>
        </p:nvSpPr>
        <p:spPr>
          <a:xfrm>
            <a:off x="640080" y="4294251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4104640"/>
            <a:ext cx="10131552" cy="97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Invite doctors.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Doctors join a clinic only by accepting an invitation — never by assignment.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" y="5265801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6" name="Text 13"/>
          <p:cNvSpPr txBox="1"/>
          <p:nvPr/>
        </p:nvSpPr>
        <p:spPr>
          <a:xfrm>
            <a:off x="640080" y="5265801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5017770"/>
            <a:ext cx="10131552" cy="97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Controlled credentials. 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 numbers change only through an admin-reviewed request.</a:t>
            </a:r>
          </a:p>
        </p:txBody>
      </p:sp>
      <p:pic>
        <p:nvPicPr>
          <p:cNvPr id="18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Administration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71116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6" name="Text 3"/>
          <p:cNvSpPr txBox="1"/>
          <p:nvPr/>
        </p:nvSpPr>
        <p:spPr>
          <a:xfrm>
            <a:off x="640080" y="20711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8308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analytics.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Usage across users, specialties, appointments and activity.</a:t>
            </a:r>
          </a:p>
        </p:txBody>
      </p:sp>
      <p:sp>
        <p:nvSpPr>
          <p:cNvPr id="8" name="Shape 5"/>
          <p:cNvSpPr/>
          <p:nvPr/>
        </p:nvSpPr>
        <p:spPr>
          <a:xfrm>
            <a:off x="640080" y="3122676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9" name="Text 6"/>
          <p:cNvSpPr txBox="1"/>
          <p:nvPr/>
        </p:nvSpPr>
        <p:spPr>
          <a:xfrm>
            <a:off x="640080" y="31226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3464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review.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 or reject doctor and clinic applications.</a:t>
            </a:r>
          </a:p>
        </p:txBody>
      </p:sp>
      <p:sp>
        <p:nvSpPr>
          <p:cNvPr id="11" name="Shape 8"/>
          <p:cNvSpPr/>
          <p:nvPr/>
        </p:nvSpPr>
        <p:spPr>
          <a:xfrm>
            <a:off x="640080" y="4174236"/>
            <a:ext cx="475488" cy="47548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9"/>
          <p:cNvSpPr txBox="1"/>
          <p:nvPr/>
        </p:nvSpPr>
        <p:spPr>
          <a:xfrm>
            <a:off x="640080" y="41742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88620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&amp; moderation. 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0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accounts and moderate the public health feed.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5225796"/>
            <a:ext cx="475488" cy="47548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2"/>
          <p:cNvSpPr txBox="1"/>
          <p:nvPr/>
        </p:nvSpPr>
        <p:spPr>
          <a:xfrm>
            <a:off x="640080" y="52257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937760"/>
            <a:ext cx="101315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&amp; invitations.</a:t>
            </a: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  <a:b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21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SA" altLang="en-US" sz="20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</a:t>
            </a: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sensitive action is logged; super admins invite new admins.</a:t>
            </a:r>
            <a:endParaRPr lang="en-US" sz="2000" dirty="0"/>
          </a:p>
        </p:txBody>
      </p:sp>
      <p:pic>
        <p:nvPicPr>
          <p:cNvPr id="17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Healthcare discovery &amp; map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the right doctor or facility, visually.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246659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26489" y="2404872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1626489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054096"/>
            <a:ext cx="224713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Search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" y="3712464"/>
            <a:ext cx="221056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specialty, name or facility type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106674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54146" y="2651760"/>
            <a:ext cx="246659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40555" y="2404872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4" name="Text 11"/>
          <p:cNvSpPr txBox="1"/>
          <p:nvPr/>
        </p:nvSpPr>
        <p:spPr>
          <a:xfrm>
            <a:off x="4440555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563874" y="3054096"/>
            <a:ext cx="224713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Discover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3582162" y="3712464"/>
            <a:ext cx="221056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Nearby clinics, hospitals and pharmacies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920740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68212" y="2651760"/>
            <a:ext cx="246659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54621" y="2404872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0" name="Text 17"/>
          <p:cNvSpPr txBox="1"/>
          <p:nvPr/>
        </p:nvSpPr>
        <p:spPr>
          <a:xfrm>
            <a:off x="7254621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77940" y="3054096"/>
            <a:ext cx="224713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Map View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6396228" y="3712464"/>
            <a:ext cx="221056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Leaflet map on OpenStreetMap tiles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734806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82278" y="2651760"/>
            <a:ext cx="246659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068687" y="2404872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6" name="Text 23"/>
          <p:cNvSpPr txBox="1"/>
          <p:nvPr/>
        </p:nvSpPr>
        <p:spPr>
          <a:xfrm>
            <a:off x="10068687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192006" y="3054096"/>
            <a:ext cx="224713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9210294" y="3712464"/>
            <a:ext cx="221056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Distance-ranked results from PostGIS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532180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7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Leaflet + OpenStreetMap on both clients; PostgreSQL/PostGIS distance queries on the server.</a:t>
            </a:r>
            <a:endParaRPr lang="en-US" sz="1700" dirty="0"/>
          </a:p>
        </p:txBody>
      </p:sp>
      <p:pic>
        <p:nvPicPr>
          <p:cNvPr id="30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Appointments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sides of one booking flow, guarded by the database.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1024128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Patient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1024128" y="3035808"/>
            <a:ext cx="4535424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a doctor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real available slots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a time and book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Track, confirm or cancel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300216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4788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9"/>
          <p:cNvSpPr txBox="1"/>
          <p:nvPr/>
        </p:nvSpPr>
        <p:spPr>
          <a:xfrm>
            <a:off x="6684264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Doctor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6684264" y="3035808"/>
            <a:ext cx="4535424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availability rules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days and time windows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 and complete visits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booked slot can never be double-taken</a:t>
            </a:r>
            <a:endParaRPr lang="en-US" sz="2000" dirty="0"/>
          </a:p>
        </p:txBody>
      </p:sp>
      <p:pic>
        <p:nvPicPr>
          <p:cNvPr id="1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Medical records &amp; prescriptions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data with relationship-based access.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1024128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Patient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3035808"/>
            <a:ext cx="4535424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medical record timeline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full record details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and download prescriptions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300216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4788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9"/>
          <p:cNvSpPr txBox="1"/>
          <p:nvPr/>
        </p:nvSpPr>
        <p:spPr>
          <a:xfrm>
            <a:off x="6684264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Doctor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6684264" y="3035808"/>
            <a:ext cx="4535424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records of assigned patients only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clinical notes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prescriptions with safety checks</a:t>
            </a:r>
            <a:endParaRPr lang="en-US" sz="2000" dirty="0"/>
          </a:p>
        </p:txBody>
      </p:sp>
      <p:pic>
        <p:nvPicPr>
          <p:cNvPr id="1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different conversations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messaging and AI assistance are deliberately separate systems.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1024128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Patient ↔ Doctor  ·  Socket.IO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3035808"/>
            <a:ext cx="4535424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chat over an authenticated socket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 human doctor replies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stays the source of truth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control who may message them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300216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4788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9"/>
          <p:cNvSpPr txBox="1"/>
          <p:nvPr/>
        </p:nvSpPr>
        <p:spPr>
          <a:xfrm>
            <a:off x="6684264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Assistant  ·  AI Service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684010" y="3035935"/>
            <a:ext cx="453517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Handled entirely by the AI service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understanding, safety layer, local LLM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— never a substitute for a doctor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Kept fully separate from human conversations</a:t>
            </a:r>
            <a:endParaRPr lang="en-US" sz="2000" dirty="0"/>
          </a:p>
        </p:txBody>
      </p:sp>
      <p:pic>
        <p:nvPicPr>
          <p:cNvPr id="1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IN ACTION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account, two clients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live data on the web application and the Flutter mobile app.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8970" y="1849120"/>
            <a:ext cx="6739255" cy="4140200"/>
          </a:xfrm>
          <a:prstGeom prst="roundRect">
            <a:avLst>
              <a:gd name="adj" fmla="val 1412"/>
            </a:avLst>
          </a:prstGeom>
          <a:solidFill>
            <a:srgbClr val="F7F9FE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5513832"/>
            <a:ext cx="6508333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application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559675" y="1804670"/>
            <a:ext cx="3989070" cy="4184650"/>
          </a:xfrm>
          <a:prstGeom prst="roundRect">
            <a:avLst>
              <a:gd name="adj" fmla="val 1412"/>
            </a:avLst>
          </a:prstGeom>
          <a:solidFill>
            <a:srgbClr val="F7F9FE"/>
          </a:solidFill>
          <a:ln w="12700">
            <a:solidFill>
              <a:srgbClr val="E2E7F3"/>
            </a:solidFill>
            <a:prstDash val="solid"/>
          </a:ln>
        </p:spPr>
      </p:sp>
      <p:pic>
        <p:nvPicPr>
          <p:cNvPr id="10" name="Image 2" descr="assets/mobile-dashboar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77860" y="2130425"/>
            <a:ext cx="2690495" cy="334645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559893" y="5513832"/>
            <a:ext cx="3988979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mobile app</a:t>
            </a:r>
            <a:endParaRPr lang="en-US" sz="1600" dirty="0"/>
          </a:p>
        </p:txBody>
      </p:sp>
      <p:pic>
        <p:nvPicPr>
          <p:cNvPr id="12" name="Image 3" descr="assets/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6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495" y="1874520"/>
            <a:ext cx="6602095" cy="40760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>
                    <a:alpha val="38000"/>
                  </a:srgb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Artificial Intelligence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9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assistance features, and the safety layers underneath them.</a:t>
            </a:r>
            <a:endParaRPr lang="en-US" sz="19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032" y="52578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ASSISTANCE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AI actually does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1976933" cy="420624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" y="2002536"/>
            <a:ext cx="68580" cy="37673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Shape 4"/>
          <p:cNvSpPr/>
          <p:nvPr/>
        </p:nvSpPr>
        <p:spPr>
          <a:xfrm>
            <a:off x="932688" y="205740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932688" y="2057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2715768"/>
            <a:ext cx="142829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Symptom Triage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505200"/>
            <a:ext cx="1428293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specialty matching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score, not a diagnosis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73045" y="1783080"/>
            <a:ext cx="1976933" cy="420624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77617" y="2002536"/>
            <a:ext cx="68580" cy="376732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3" name="Shape 10"/>
          <p:cNvSpPr/>
          <p:nvPr/>
        </p:nvSpPr>
        <p:spPr>
          <a:xfrm>
            <a:off x="3165653" y="205740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4" name="Text 11"/>
          <p:cNvSpPr txBox="1"/>
          <p:nvPr/>
        </p:nvSpPr>
        <p:spPr>
          <a:xfrm>
            <a:off x="3165653" y="2057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165653" y="2715768"/>
            <a:ext cx="142829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Medical Chatbot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3165653" y="3505200"/>
            <a:ext cx="1428293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Arabic &amp; English understanding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LLM via Ollama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106010" y="1783080"/>
            <a:ext cx="1976933" cy="420624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10582" y="2002536"/>
            <a:ext cx="68580" cy="37673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Shape 16"/>
          <p:cNvSpPr/>
          <p:nvPr/>
        </p:nvSpPr>
        <p:spPr>
          <a:xfrm>
            <a:off x="5398618" y="205740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0" name="Text 17"/>
          <p:cNvSpPr txBox="1"/>
          <p:nvPr/>
        </p:nvSpPr>
        <p:spPr>
          <a:xfrm>
            <a:off x="5398618" y="2057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398618" y="2715768"/>
            <a:ext cx="142829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Drug Checker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5398618" y="3505200"/>
            <a:ext cx="1428293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Database-backed interactions</a:t>
            </a:r>
            <a:endParaRPr lang="en-US" sz="16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 and Rx warnings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38695" y="1783080"/>
            <a:ext cx="2013585" cy="420624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43546" y="2002536"/>
            <a:ext cx="68580" cy="376732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5" name="Shape 22"/>
          <p:cNvSpPr/>
          <p:nvPr/>
        </p:nvSpPr>
        <p:spPr>
          <a:xfrm>
            <a:off x="7631582" y="205740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6" name="Text 23"/>
          <p:cNvSpPr txBox="1"/>
          <p:nvPr/>
        </p:nvSpPr>
        <p:spPr>
          <a:xfrm>
            <a:off x="7631582" y="2057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500620" y="2715895"/>
            <a:ext cx="1874520" cy="567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Summarizer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7631582" y="3505200"/>
            <a:ext cx="1428293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OCR for scans and PDFs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Arabic &amp; English summaries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9571939" y="1783080"/>
            <a:ext cx="1976933" cy="420624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576511" y="2002536"/>
            <a:ext cx="68580" cy="37673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1" name="Shape 28"/>
          <p:cNvSpPr/>
          <p:nvPr/>
        </p:nvSpPr>
        <p:spPr>
          <a:xfrm>
            <a:off x="9864547" y="205740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2" name="Text 29"/>
          <p:cNvSpPr txBox="1"/>
          <p:nvPr/>
        </p:nvSpPr>
        <p:spPr>
          <a:xfrm>
            <a:off x="9864547" y="20574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9864547" y="2715768"/>
            <a:ext cx="142829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Virtual Doctor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9864725" y="3505200"/>
            <a:ext cx="1543685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voice consultation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Grounded, safety-checked</a:t>
            </a:r>
            <a:endParaRPr lang="en-US" sz="2000" dirty="0"/>
          </a:p>
        </p:txBody>
      </p:sp>
      <p:pic>
        <p:nvPicPr>
          <p:cNvPr id="35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ASSISTANCE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medical chatbot works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 patient message to a safe, grounded reply.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246659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26489" y="2404872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1626489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054096"/>
            <a:ext cx="224713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Message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3712464"/>
            <a:ext cx="221056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health question in Arabic or English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106674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54146" y="2651760"/>
            <a:ext cx="246659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40555" y="2404872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4" name="Text 11"/>
          <p:cNvSpPr txBox="1"/>
          <p:nvPr/>
        </p:nvSpPr>
        <p:spPr>
          <a:xfrm>
            <a:off x="4440555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563874" y="3054096"/>
            <a:ext cx="224713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Understanding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3582162" y="3712464"/>
            <a:ext cx="221056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intent and entity extraction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920740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68212" y="2651760"/>
            <a:ext cx="246659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54621" y="2404872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0" name="Text 17"/>
          <p:cNvSpPr txBox="1"/>
          <p:nvPr/>
        </p:nvSpPr>
        <p:spPr>
          <a:xfrm>
            <a:off x="7254621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77940" y="3054096"/>
            <a:ext cx="224713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Safety Check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6396228" y="3712464"/>
            <a:ext cx="221056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intents are filtered first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734806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82278" y="2651760"/>
            <a:ext cx="246659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068687" y="2404872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6" name="Text 23"/>
          <p:cNvSpPr txBox="1"/>
          <p:nvPr/>
        </p:nvSpPr>
        <p:spPr>
          <a:xfrm>
            <a:off x="10068687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192006" y="3054096"/>
            <a:ext cx="224713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LLM Response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9210294" y="3712464"/>
            <a:ext cx="221056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Ollama model composes the reply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532180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7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backend authenticates every request — the AI service is internal-only and never exposed to clients.</a:t>
            </a:r>
            <a:endParaRPr lang="en-US" sz="1700" dirty="0"/>
          </a:p>
        </p:txBody>
      </p:sp>
      <p:pic>
        <p:nvPicPr>
          <p:cNvPr id="30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ASSISTANCE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Virtual Doctor works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voice consultation — our deepest AI subsystem.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1903781" cy="228600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45082" y="2404872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1345082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054096"/>
            <a:ext cx="168432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Voice Input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67461" y="3795014"/>
            <a:ext cx="1647749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faster-whisper turns speech into text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43861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91333" y="2651760"/>
            <a:ext cx="1903781" cy="228600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96335" y="2404872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4" name="Text 11"/>
          <p:cNvSpPr txBox="1"/>
          <p:nvPr/>
        </p:nvSpPr>
        <p:spPr>
          <a:xfrm>
            <a:off x="3596335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001061" y="3054096"/>
            <a:ext cx="168432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Guided Interview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2959100" y="3794760"/>
            <a:ext cx="1774825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Adaptive questions, unclear answers confirmed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795114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142586" y="2651760"/>
            <a:ext cx="1903781" cy="228600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47588" y="2404872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0" name="Text 17"/>
          <p:cNvSpPr txBox="1"/>
          <p:nvPr/>
        </p:nvSpPr>
        <p:spPr>
          <a:xfrm>
            <a:off x="5847588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252314" y="3054096"/>
            <a:ext cx="168432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Knowledge Retrieval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5175885" y="3794760"/>
            <a:ext cx="1741805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 search over a medical knowledge base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7046366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93838" y="2651760"/>
            <a:ext cx="1903781" cy="228600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98841" y="2404872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6" name="Text 23"/>
          <p:cNvSpPr txBox="1"/>
          <p:nvPr/>
        </p:nvSpPr>
        <p:spPr>
          <a:xfrm>
            <a:off x="8098841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7503566" y="3054096"/>
            <a:ext cx="168432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Clinical Reasoning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7521854" y="3795014"/>
            <a:ext cx="1647749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Prolog rules combined with the model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9297619" y="3794760"/>
            <a:ext cx="347472" cy="0"/>
          </a:xfrm>
          <a:prstGeom prst="line">
            <a:avLst/>
          </a:prstGeom>
          <a:noFill/>
          <a:ln w="31750">
            <a:solidFill>
              <a:srgbClr val="A9B1CF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645091" y="2651760"/>
            <a:ext cx="1903781" cy="228600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0350094" y="2404872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2" name="Text 29"/>
          <p:cNvSpPr txBox="1"/>
          <p:nvPr/>
        </p:nvSpPr>
        <p:spPr>
          <a:xfrm>
            <a:off x="10350094" y="24048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9754819" y="3054096"/>
            <a:ext cx="168432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Voice Output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9773107" y="3795014"/>
            <a:ext cx="1647749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Piper text-to-speech reads the reply back</a:t>
            </a:r>
            <a:endParaRPr lang="en-US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532180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7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memory lives in the database, so the interview builds on every previous answer.</a:t>
            </a:r>
            <a:endParaRPr lang="en-US" sz="1700" dirty="0"/>
          </a:p>
        </p:txBody>
      </p:sp>
      <p:pic>
        <p:nvPicPr>
          <p:cNvPr id="36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ASSISTANCE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we keep the AI safe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important property of a medical assistant is knowing when to stop and escalate.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2535174" cy="3886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Shape 5"/>
          <p:cNvSpPr/>
          <p:nvPr/>
        </p:nvSpPr>
        <p:spPr>
          <a:xfrm>
            <a:off x="932688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6"/>
          <p:cNvSpPr txBox="1"/>
          <p:nvPr/>
        </p:nvSpPr>
        <p:spPr>
          <a:xfrm>
            <a:off x="932688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1690" y="3035935"/>
            <a:ext cx="2386965" cy="567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Emergency First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21690" y="3657600"/>
            <a:ext cx="234442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patterns are checked before anything else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Arabic and English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31286" y="2103120"/>
            <a:ext cx="2535174" cy="3886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35858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4" name="Shape 11"/>
          <p:cNvSpPr/>
          <p:nvPr/>
        </p:nvSpPr>
        <p:spPr>
          <a:xfrm>
            <a:off x="3723894" y="237744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2"/>
          <p:cNvSpPr txBox="1"/>
          <p:nvPr/>
        </p:nvSpPr>
        <p:spPr>
          <a:xfrm>
            <a:off x="3723894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723640" y="3035935"/>
            <a:ext cx="2176145" cy="567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Symbolic Rules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723894" y="3657600"/>
            <a:ext cx="198653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Prolog rule engine encodes clinical red flags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Deterministic, not probabilistic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22492" y="2103120"/>
            <a:ext cx="2535174" cy="3886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27064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Shape 17"/>
          <p:cNvSpPr/>
          <p:nvPr/>
        </p:nvSpPr>
        <p:spPr>
          <a:xfrm>
            <a:off x="6515100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8"/>
          <p:cNvSpPr txBox="1"/>
          <p:nvPr/>
        </p:nvSpPr>
        <p:spPr>
          <a:xfrm>
            <a:off x="6515100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515100" y="3035808"/>
            <a:ext cx="198653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Escalate Only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515100" y="3657600"/>
            <a:ext cx="198653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can be raised, never lowered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Enforced in four separate places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13698" y="2103120"/>
            <a:ext cx="2535174" cy="3886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18270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6" name="Shape 23"/>
          <p:cNvSpPr/>
          <p:nvPr/>
        </p:nvSpPr>
        <p:spPr>
          <a:xfrm>
            <a:off x="9306306" y="237744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7" name="Text 24"/>
          <p:cNvSpPr txBox="1"/>
          <p:nvPr/>
        </p:nvSpPr>
        <p:spPr>
          <a:xfrm>
            <a:off x="9306306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306306" y="3035808"/>
            <a:ext cx="198653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Clear Limits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9306306" y="3657600"/>
            <a:ext cx="198653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Guidance, never a diagnosis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AI output is advisory</a:t>
            </a:r>
            <a:endParaRPr lang="en-US" sz="2000" dirty="0"/>
          </a:p>
        </p:txBody>
      </p:sp>
      <p:pic>
        <p:nvPicPr>
          <p:cNvPr id="30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>
                    <a:alpha val="38000"/>
                  </a:srgb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Engineering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9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architecture, the data, and the discipline behind the product.</a:t>
            </a:r>
            <a:endParaRPr lang="en-US" sz="19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032" y="52578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service-oriented architecture: every part has one job and one boundary.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2535174" cy="3886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Shape 5"/>
          <p:cNvSpPr/>
          <p:nvPr/>
        </p:nvSpPr>
        <p:spPr>
          <a:xfrm>
            <a:off x="932688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6"/>
          <p:cNvSpPr txBox="1"/>
          <p:nvPr/>
        </p:nvSpPr>
        <p:spPr>
          <a:xfrm>
            <a:off x="932688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035808"/>
            <a:ext cx="198653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Clients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657600"/>
            <a:ext cx="198653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Web: HTML/CSS/JS + nginx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Mobile: Flutter + Dart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shared REST contract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431286" y="2103120"/>
            <a:ext cx="2535174" cy="3886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35858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4" name="Shape 11"/>
          <p:cNvSpPr/>
          <p:nvPr/>
        </p:nvSpPr>
        <p:spPr>
          <a:xfrm>
            <a:off x="3723894" y="237744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2"/>
          <p:cNvSpPr txBox="1"/>
          <p:nvPr/>
        </p:nvSpPr>
        <p:spPr>
          <a:xfrm>
            <a:off x="3723894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723894" y="3035808"/>
            <a:ext cx="198653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723894" y="3657600"/>
            <a:ext cx="198653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/ Express API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+ access control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Socket.IO real-time layer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222492" y="2103120"/>
            <a:ext cx="2535174" cy="3886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27064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Shape 17"/>
          <p:cNvSpPr/>
          <p:nvPr/>
        </p:nvSpPr>
        <p:spPr>
          <a:xfrm>
            <a:off x="6515100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8"/>
          <p:cNvSpPr txBox="1"/>
          <p:nvPr/>
        </p:nvSpPr>
        <p:spPr>
          <a:xfrm>
            <a:off x="6515100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515100" y="3035808"/>
            <a:ext cx="198653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</a:t>
            </a:r>
          </a:p>
        </p:txBody>
      </p:sp>
      <p:sp>
        <p:nvSpPr>
          <p:cNvPr id="23" name="Text 20"/>
          <p:cNvSpPr txBox="1"/>
          <p:nvPr/>
        </p:nvSpPr>
        <p:spPr>
          <a:xfrm>
            <a:off x="6515100" y="3657600"/>
            <a:ext cx="198653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18 + PostGIS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Hand-written SQL, no ORM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 ordered migrations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9013698" y="2103120"/>
            <a:ext cx="2535174" cy="3886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18270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6" name="Shape 23"/>
          <p:cNvSpPr/>
          <p:nvPr/>
        </p:nvSpPr>
        <p:spPr>
          <a:xfrm>
            <a:off x="9306306" y="237744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7" name="Text 24"/>
          <p:cNvSpPr txBox="1"/>
          <p:nvPr/>
        </p:nvSpPr>
        <p:spPr>
          <a:xfrm>
            <a:off x="9306306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306306" y="3035808"/>
            <a:ext cx="198653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+ Events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9306306" y="3657600"/>
            <a:ext cx="198653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/ FastAPI, internal-only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LLM via Ollama</a:t>
            </a:r>
            <a:endParaRPr lang="en-US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+ background workers</a:t>
            </a:r>
            <a:endParaRPr lang="en-US" dirty="0"/>
          </a:p>
        </p:txBody>
      </p:sp>
      <p:pic>
        <p:nvPicPr>
          <p:cNvPr id="30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18 + PostGIS  ·  geospatial search  ·  JSONB where it earns its place  ·  31 tracked migrations.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465576" cy="38862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Shape 5"/>
          <p:cNvSpPr/>
          <p:nvPr/>
        </p:nvSpPr>
        <p:spPr>
          <a:xfrm>
            <a:off x="932688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6"/>
          <p:cNvSpPr txBox="1"/>
          <p:nvPr/>
        </p:nvSpPr>
        <p:spPr>
          <a:xfrm>
            <a:off x="932688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035808"/>
            <a:ext cx="29169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Healthcare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657600"/>
            <a:ext cx="2916936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Users, doctors &amp; specialties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Clinics &amp; facilities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&amp; prescriptions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61688" y="2103120"/>
            <a:ext cx="3465576" cy="38862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6260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4" name="Shape 11"/>
          <p:cNvSpPr/>
          <p:nvPr/>
        </p:nvSpPr>
        <p:spPr>
          <a:xfrm>
            <a:off x="4654296" y="237744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2"/>
          <p:cNvSpPr txBox="1"/>
          <p:nvPr/>
        </p:nvSpPr>
        <p:spPr>
          <a:xfrm>
            <a:off x="4654296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654296" y="3035808"/>
            <a:ext cx="29169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Communication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654296" y="3657600"/>
            <a:ext cx="2916936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Conversations &amp; messages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feed &amp; follows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083296" y="2103120"/>
            <a:ext cx="3465576" cy="38862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87868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Shape 17"/>
          <p:cNvSpPr/>
          <p:nvPr/>
        </p:nvSpPr>
        <p:spPr>
          <a:xfrm>
            <a:off x="8375904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8"/>
          <p:cNvSpPr txBox="1"/>
          <p:nvPr/>
        </p:nvSpPr>
        <p:spPr>
          <a:xfrm>
            <a:off x="8375904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375904" y="3035808"/>
            <a:ext cx="29169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Platform &amp; AI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75904" y="3657600"/>
            <a:ext cx="2916936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Subscriptions &amp; usage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logs &amp; event outbox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and consultation sessions</a:t>
            </a:r>
            <a:endParaRPr lang="en-US" sz="2000" dirty="0"/>
          </a:p>
        </p:txBody>
      </p:sp>
      <p:pic>
        <p:nvPicPr>
          <p:cNvPr id="2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Asynchronous events &amp; real-time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different problems solved with two different patterns.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1024128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Kafka  ·  Asynchronous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95985" y="3035935"/>
            <a:ext cx="4740275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Events are saved in the same transaction as the data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worker publishes them with retry and back-off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Consumers build recommendation profiles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user's request never waits for Kafka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300216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4788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9"/>
          <p:cNvSpPr txBox="1"/>
          <p:nvPr/>
        </p:nvSpPr>
        <p:spPr>
          <a:xfrm>
            <a:off x="6684264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Socket.IO  ·  Real-Time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684010" y="3035935"/>
            <a:ext cx="474091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Authenticated live connections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Room-based patient ↔ doctor messaging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Delivered instantly, stored in PostgreSQL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from the AI assistant</a:t>
            </a:r>
            <a:endParaRPr lang="en-US" sz="2000" dirty="0"/>
          </a:p>
        </p:txBody>
      </p:sp>
      <p:pic>
        <p:nvPicPr>
          <p:cNvPr id="1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BY DESIGN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Authentication &amp; security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data needs layered boundaries — not just a login screen.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465576" cy="38862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Shape 5"/>
          <p:cNvSpPr/>
          <p:nvPr/>
        </p:nvSpPr>
        <p:spPr>
          <a:xfrm>
            <a:off x="932688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6"/>
          <p:cNvSpPr txBox="1"/>
          <p:nvPr/>
        </p:nvSpPr>
        <p:spPr>
          <a:xfrm>
            <a:off x="932688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035808"/>
            <a:ext cx="29169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Identity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01370" y="3657600"/>
            <a:ext cx="317627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Email/password + Google Sign-In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&amp; refresh tokens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Passwords hashed with bcrypt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61688" y="2103120"/>
            <a:ext cx="3465576" cy="38862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6260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4" name="Shape 11"/>
          <p:cNvSpPr/>
          <p:nvPr/>
        </p:nvSpPr>
        <p:spPr>
          <a:xfrm>
            <a:off x="4654296" y="2377440"/>
            <a:ext cx="493776" cy="4937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2"/>
          <p:cNvSpPr txBox="1"/>
          <p:nvPr/>
        </p:nvSpPr>
        <p:spPr>
          <a:xfrm>
            <a:off x="4654296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654296" y="3035808"/>
            <a:ext cx="29169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Authorization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654296" y="3657600"/>
            <a:ext cx="2916936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for 5 roles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 access follows the care relationship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Changing a role revokes sessions instantly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083296" y="2103120"/>
            <a:ext cx="3465576" cy="38862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87868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Shape 17"/>
          <p:cNvSpPr/>
          <p:nvPr/>
        </p:nvSpPr>
        <p:spPr>
          <a:xfrm>
            <a:off x="8375904" y="2377440"/>
            <a:ext cx="493776" cy="4937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8"/>
          <p:cNvSpPr txBox="1"/>
          <p:nvPr/>
        </p:nvSpPr>
        <p:spPr>
          <a:xfrm>
            <a:off x="8375904" y="237744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375904" y="3035808"/>
            <a:ext cx="29169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Platform Defense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75904" y="3657600"/>
            <a:ext cx="2916936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headers &amp; content policy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CORS rules &amp; rate limiting</a:t>
            </a:r>
            <a:endParaRPr lang="en-US" sz="2000" dirty="0"/>
          </a:p>
          <a:p>
            <a:pPr marL="165100" indent="-165100">
              <a:lnSpc>
                <a:spcPct val="118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trail for sensitive actions</a:t>
            </a:r>
            <a:endParaRPr lang="en-US" sz="2000" dirty="0"/>
          </a:p>
        </p:txBody>
      </p:sp>
      <p:pic>
        <p:nvPicPr>
          <p:cNvPr id="2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&amp; OPERATIONS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Delivery &amp; verification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Reproducible environments and automated checks on every push.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1024128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24255" y="3035935"/>
            <a:ext cx="4629785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Compose runs the whole stack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Backend, AI service, database, Kafka, workers, web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checks before traffic is served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 staging configuration prepared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300216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4788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9"/>
          <p:cNvSpPr txBox="1"/>
          <p:nvPr/>
        </p:nvSpPr>
        <p:spPr>
          <a:xfrm>
            <a:off x="6684264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 &amp; CI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684010" y="3035935"/>
            <a:ext cx="4629785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tests: auth, access control, messaging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 pipeline and billing test suites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service unit and safety-regression tests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Actions: build, migrate, test, health-check</a:t>
            </a:r>
            <a:endParaRPr lang="en-US" sz="2000" dirty="0"/>
          </a:p>
        </p:txBody>
      </p:sp>
      <p:pic>
        <p:nvPicPr>
          <p:cNvPr id="1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Platform analytics dashboard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480820"/>
            <a:ext cx="10621010" cy="4636770"/>
          </a:xfrm>
          <a:prstGeom prst="roundRect">
            <a:avLst>
              <a:gd name="adj" fmla="val 1412"/>
            </a:avLst>
          </a:prstGeom>
          <a:solidFill>
            <a:srgbClr val="F7F9FE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5513832"/>
            <a:ext cx="6508333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admin dashboard</a:t>
            </a:r>
            <a:endParaRPr lang="en-US" sz="1600" dirty="0"/>
          </a:p>
        </p:txBody>
      </p:sp>
      <p:pic>
        <p:nvPicPr>
          <p:cNvPr id="12" name="Image 3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6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95" y="1477010"/>
            <a:ext cx="10341610" cy="45516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QUALITY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actually delivered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platform, engineered across every layer.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678555" cy="807085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" y="2305431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8" name="Text 5"/>
          <p:cNvSpPr txBox="1"/>
          <p:nvPr/>
        </p:nvSpPr>
        <p:spPr>
          <a:xfrm>
            <a:off x="859536" y="230543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90015" y="2103120"/>
            <a:ext cx="2715895" cy="807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Discovery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585208" y="2103120"/>
            <a:ext cx="3465576" cy="806958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4664" y="2305431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12" name="Text 9"/>
          <p:cNvSpPr txBox="1"/>
          <p:nvPr/>
        </p:nvSpPr>
        <p:spPr>
          <a:xfrm>
            <a:off x="4804664" y="230543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335016" y="2103120"/>
            <a:ext cx="2505456" cy="806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306816" y="2103120"/>
            <a:ext cx="3465576" cy="806958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26272" y="2305431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16" name="Text 13"/>
          <p:cNvSpPr txBox="1"/>
          <p:nvPr/>
        </p:nvSpPr>
        <p:spPr>
          <a:xfrm>
            <a:off x="8526272" y="230543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056624" y="2103120"/>
            <a:ext cx="2505456" cy="806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 Records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40080" y="3129280"/>
            <a:ext cx="3678555" cy="807085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9536" y="3331845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20" name="Text 17"/>
          <p:cNvSpPr txBox="1"/>
          <p:nvPr/>
        </p:nvSpPr>
        <p:spPr>
          <a:xfrm>
            <a:off x="859536" y="333184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389888" y="3129534"/>
            <a:ext cx="2505456" cy="806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Prescriptions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4585208" y="3129534"/>
            <a:ext cx="3465576" cy="806958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04664" y="3331845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24" name="Text 21"/>
          <p:cNvSpPr txBox="1"/>
          <p:nvPr/>
        </p:nvSpPr>
        <p:spPr>
          <a:xfrm>
            <a:off x="4804664" y="333184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335016" y="3129534"/>
            <a:ext cx="2505456" cy="806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↔ Doctor Messaging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8306816" y="3129534"/>
            <a:ext cx="3465576" cy="806958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526272" y="3331845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28" name="Text 25"/>
          <p:cNvSpPr txBox="1"/>
          <p:nvPr/>
        </p:nvSpPr>
        <p:spPr>
          <a:xfrm>
            <a:off x="8526272" y="333184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056624" y="3129534"/>
            <a:ext cx="2505456" cy="806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 Workspace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640080" y="4156075"/>
            <a:ext cx="3721100" cy="807085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9536" y="4358259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32" name="Text 29"/>
          <p:cNvSpPr txBox="1"/>
          <p:nvPr/>
        </p:nvSpPr>
        <p:spPr>
          <a:xfrm>
            <a:off x="859536" y="435825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390015" y="4156075"/>
            <a:ext cx="2971165" cy="807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Administration &amp; Audit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4585208" y="4155948"/>
            <a:ext cx="3465576" cy="806958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04664" y="4358259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36" name="Text 33"/>
          <p:cNvSpPr txBox="1"/>
          <p:nvPr/>
        </p:nvSpPr>
        <p:spPr>
          <a:xfrm>
            <a:off x="4804664" y="435825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5335270" y="4156075"/>
            <a:ext cx="2529205" cy="807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Assistance (5 tools)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8306816" y="4155948"/>
            <a:ext cx="3465576" cy="806958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26272" y="4358259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40" name="Text 37"/>
          <p:cNvSpPr txBox="1"/>
          <p:nvPr/>
        </p:nvSpPr>
        <p:spPr>
          <a:xfrm>
            <a:off x="8526272" y="435825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9056624" y="4155948"/>
            <a:ext cx="2505456" cy="806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Maps &amp; Geospatial Search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640080" y="5182235"/>
            <a:ext cx="3707765" cy="807085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59536" y="5384673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44" name="Text 41"/>
          <p:cNvSpPr txBox="1"/>
          <p:nvPr/>
        </p:nvSpPr>
        <p:spPr>
          <a:xfrm>
            <a:off x="859536" y="538467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1389888" y="5182362"/>
            <a:ext cx="2505456" cy="806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Communication</a:t>
            </a:r>
            <a:endParaRPr lang="en-US" sz="2400" dirty="0"/>
          </a:p>
        </p:txBody>
      </p:sp>
      <p:sp>
        <p:nvSpPr>
          <p:cNvPr id="46" name="Shape 43"/>
          <p:cNvSpPr/>
          <p:nvPr/>
        </p:nvSpPr>
        <p:spPr>
          <a:xfrm>
            <a:off x="4585208" y="5182362"/>
            <a:ext cx="3465576" cy="806958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804664" y="5384673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48" name="Text 45"/>
          <p:cNvSpPr txBox="1"/>
          <p:nvPr/>
        </p:nvSpPr>
        <p:spPr>
          <a:xfrm>
            <a:off x="4804664" y="538467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5335016" y="5182362"/>
            <a:ext cx="2505456" cy="806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Event-Driven Processing</a:t>
            </a:r>
            <a:endParaRPr lang="en-US" sz="2400" dirty="0"/>
          </a:p>
        </p:txBody>
      </p:sp>
      <p:sp>
        <p:nvSpPr>
          <p:cNvPr id="50" name="Shape 47"/>
          <p:cNvSpPr/>
          <p:nvPr/>
        </p:nvSpPr>
        <p:spPr>
          <a:xfrm>
            <a:off x="8306816" y="5182362"/>
            <a:ext cx="3465576" cy="806958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526272" y="5384673"/>
            <a:ext cx="402336" cy="402336"/>
          </a:xfrm>
          <a:prstGeom prst="ellipse">
            <a:avLst/>
          </a:prstGeom>
          <a:solidFill>
            <a:srgbClr val="12805C"/>
          </a:solidFill>
        </p:spPr>
      </p:sp>
      <p:sp>
        <p:nvSpPr>
          <p:cNvPr id="52" name="Text 49"/>
          <p:cNvSpPr txBox="1"/>
          <p:nvPr/>
        </p:nvSpPr>
        <p:spPr>
          <a:xfrm>
            <a:off x="8526272" y="538467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9041130" y="5182235"/>
            <a:ext cx="2731135" cy="807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+ Mobile Clients</a:t>
            </a:r>
            <a:endParaRPr lang="en-US" sz="2400" dirty="0"/>
          </a:p>
        </p:txBody>
      </p:sp>
      <p:pic>
        <p:nvPicPr>
          <p:cNvPr id="5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56" name="Text 5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LOOKING AHEAD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honest picture of where the prototype stands today.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" y="2322576"/>
            <a:ext cx="68580" cy="3447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 txBox="1"/>
          <p:nvPr/>
        </p:nvSpPr>
        <p:spPr>
          <a:xfrm>
            <a:off x="1024128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Current Limitations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3035808"/>
            <a:ext cx="4535424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prototype, not a certified medical device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output requires professional review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is simulated, not a live provider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load on request, not in real time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300216" y="2103120"/>
            <a:ext cx="524865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27000" dist="19050" dir="5400000" algn="bl" rotWithShape="0">
              <a:srgbClr val="AAB3CC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4788" y="2322576"/>
            <a:ext cx="68580" cy="3447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9"/>
          <p:cNvSpPr txBox="1"/>
          <p:nvPr/>
        </p:nvSpPr>
        <p:spPr>
          <a:xfrm>
            <a:off x="6684264" y="2377440"/>
            <a:ext cx="4590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684264" y="3035808"/>
            <a:ext cx="4535424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Physical-device and load testing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security review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payment-gateway integration</a:t>
            </a:r>
            <a:endParaRPr lang="en-US" sz="2000" dirty="0"/>
          </a:p>
          <a:p>
            <a:pPr marL="190500" indent="-190500">
              <a:lnSpc>
                <a:spcPct val="124000"/>
              </a:lnSpc>
              <a:buSzPct val="100000"/>
              <a:buChar char="•"/>
            </a:pPr>
            <a:r>
              <a:rPr lang="en-US" sz="2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monitoring and backups</a:t>
            </a:r>
            <a:endParaRPr lang="en-US" sz="2000" dirty="0"/>
          </a:p>
        </p:txBody>
      </p:sp>
      <p:pic>
        <p:nvPicPr>
          <p:cNvPr id="1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 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r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100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02336"/>
            <a:ext cx="10908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6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SUMMARY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31520"/>
            <a:ext cx="109087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Languages &amp; technologies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6464"/>
            <a:ext cx="109087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language and platform behind MedOrbit, and where each one is used.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2548890" cy="1824228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" y="2322576"/>
            <a:ext cx="841248" cy="420624"/>
          </a:xfrm>
          <a:prstGeom prst="roundRect">
            <a:avLst>
              <a:gd name="adj" fmla="val 19565"/>
            </a:avLst>
          </a:prstGeom>
          <a:solidFill>
            <a:srgbClr val="E8B900"/>
          </a:solidFill>
        </p:spPr>
      </p:sp>
      <p:sp>
        <p:nvSpPr>
          <p:cNvPr id="8" name="Text 5"/>
          <p:cNvSpPr txBox="1"/>
          <p:nvPr/>
        </p:nvSpPr>
        <p:spPr>
          <a:xfrm>
            <a:off x="877824" y="2322576"/>
            <a:ext cx="84124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834640"/>
            <a:ext cx="207340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3218688"/>
            <a:ext cx="2073402" cy="5440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application — HTML5, CSS3, nginx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26714" y="2103120"/>
            <a:ext cx="2548890" cy="1824228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64458" y="2322576"/>
            <a:ext cx="841248" cy="420624"/>
          </a:xfrm>
          <a:prstGeom prst="roundRect">
            <a:avLst>
              <a:gd name="adj" fmla="val 19565"/>
            </a:avLst>
          </a:prstGeom>
          <a:solidFill>
            <a:srgbClr val="0B5EA8"/>
          </a:solidFill>
        </p:spPr>
      </p:sp>
      <p:sp>
        <p:nvSpPr>
          <p:cNvPr id="13" name="Text 10"/>
          <p:cNvSpPr txBox="1"/>
          <p:nvPr/>
        </p:nvSpPr>
        <p:spPr>
          <a:xfrm>
            <a:off x="3664458" y="2322576"/>
            <a:ext cx="84124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64458" y="2834640"/>
            <a:ext cx="207340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Flutter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64458" y="3218688"/>
            <a:ext cx="2073402" cy="5440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 — Riverpod, GoRouter, Dio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13348" y="2103120"/>
            <a:ext cx="2548890" cy="1824228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51092" y="2322576"/>
            <a:ext cx="841248" cy="420624"/>
          </a:xfrm>
          <a:prstGeom prst="roundRect">
            <a:avLst>
              <a:gd name="adj" fmla="val 19565"/>
            </a:avLst>
          </a:prstGeom>
          <a:solidFill>
            <a:srgbClr val="2F7D32"/>
          </a:solidFill>
        </p:spPr>
      </p:sp>
      <p:sp>
        <p:nvSpPr>
          <p:cNvPr id="18" name="Text 15"/>
          <p:cNvSpPr txBox="1"/>
          <p:nvPr/>
        </p:nvSpPr>
        <p:spPr>
          <a:xfrm>
            <a:off x="6451092" y="2322576"/>
            <a:ext cx="84124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51092" y="2834640"/>
            <a:ext cx="207340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Node.js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51092" y="3218688"/>
            <a:ext cx="2073402" cy="5440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 REST API + Socket.IO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999982" y="2103120"/>
            <a:ext cx="2548890" cy="1824228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237726" y="2322576"/>
            <a:ext cx="841248" cy="420624"/>
          </a:xfrm>
          <a:prstGeom prst="roundRect">
            <a:avLst>
              <a:gd name="adj" fmla="val 19565"/>
            </a:avLst>
          </a:prstGeom>
          <a:solidFill>
            <a:srgbClr val="2F6FA8"/>
          </a:solidFill>
        </p:spPr>
      </p:sp>
      <p:sp>
        <p:nvSpPr>
          <p:cNvPr id="23" name="Text 20"/>
          <p:cNvSpPr txBox="1"/>
          <p:nvPr/>
        </p:nvSpPr>
        <p:spPr>
          <a:xfrm>
            <a:off x="9237726" y="2322576"/>
            <a:ext cx="84124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37726" y="2834640"/>
            <a:ext cx="207340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FastAPI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237726" y="3218688"/>
            <a:ext cx="2073402" cy="5440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service — NLU, RAG, OCR, voice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0080" y="4165092"/>
            <a:ext cx="2548890" cy="1824228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77824" y="4384548"/>
            <a:ext cx="841248" cy="420624"/>
          </a:xfrm>
          <a:prstGeom prst="roundRect">
            <a:avLst>
              <a:gd name="adj" fmla="val 19565"/>
            </a:avLst>
          </a:prstGeom>
          <a:solidFill>
            <a:srgbClr val="2F5F8F"/>
          </a:solidFill>
        </p:spPr>
      </p:sp>
      <p:sp>
        <p:nvSpPr>
          <p:cNvPr id="28" name="Text 25"/>
          <p:cNvSpPr txBox="1"/>
          <p:nvPr/>
        </p:nvSpPr>
        <p:spPr>
          <a:xfrm>
            <a:off x="877824" y="4384548"/>
            <a:ext cx="84124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77824" y="4896612"/>
            <a:ext cx="207340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" y="5280660"/>
            <a:ext cx="2073402" cy="5440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PostGIS geospatial data, 31 migrations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426714" y="4165092"/>
            <a:ext cx="2548890" cy="1824228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664458" y="4384548"/>
            <a:ext cx="841248" cy="420624"/>
          </a:xfrm>
          <a:prstGeom prst="roundRect">
            <a:avLst>
              <a:gd name="adj" fmla="val 19565"/>
            </a:avLst>
          </a:prstGeom>
          <a:solidFill>
            <a:srgbClr val="8A2C2C"/>
          </a:solidFill>
        </p:spPr>
      </p:sp>
      <p:sp>
        <p:nvSpPr>
          <p:cNvPr id="33" name="Text 30"/>
          <p:cNvSpPr txBox="1"/>
          <p:nvPr/>
        </p:nvSpPr>
        <p:spPr>
          <a:xfrm>
            <a:off x="3664458" y="4384548"/>
            <a:ext cx="84124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Prolog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3664458" y="4896612"/>
            <a:ext cx="207340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SWI-Prolog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3664458" y="5280660"/>
            <a:ext cx="2073402" cy="5440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Symbolic clinical reasoning rules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213348" y="4165092"/>
            <a:ext cx="2548890" cy="1824228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51092" y="4384548"/>
            <a:ext cx="841248" cy="420624"/>
          </a:xfrm>
          <a:prstGeom prst="roundRect">
            <a:avLst>
              <a:gd name="adj" fmla="val 19565"/>
            </a:avLst>
          </a:prstGeom>
          <a:solidFill>
            <a:srgbClr val="26262B"/>
          </a:solidFill>
        </p:spPr>
      </p:sp>
      <p:sp>
        <p:nvSpPr>
          <p:cNvPr id="38" name="Text 35"/>
          <p:cNvSpPr txBox="1"/>
          <p:nvPr/>
        </p:nvSpPr>
        <p:spPr>
          <a:xfrm>
            <a:off x="6451092" y="4384548"/>
            <a:ext cx="84124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451092" y="4896612"/>
            <a:ext cx="207340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Apache Kafka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6451092" y="5280660"/>
            <a:ext cx="2073402" cy="5440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Asynchronous event pipeline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999982" y="4165092"/>
            <a:ext cx="2548890" cy="1824228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blurRad="114300" dist="19050" dir="5400000" algn="bl" rotWithShape="0">
              <a:srgbClr val="AAB3CC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237726" y="4384548"/>
            <a:ext cx="841248" cy="420624"/>
          </a:xfrm>
          <a:prstGeom prst="roundRect">
            <a:avLst>
              <a:gd name="adj" fmla="val 19565"/>
            </a:avLst>
          </a:prstGeom>
          <a:solidFill>
            <a:srgbClr val="1D63C9"/>
          </a:solidFill>
        </p:spPr>
      </p:sp>
      <p:sp>
        <p:nvSpPr>
          <p:cNvPr id="43" name="Text 40"/>
          <p:cNvSpPr txBox="1"/>
          <p:nvPr/>
        </p:nvSpPr>
        <p:spPr>
          <a:xfrm>
            <a:off x="9237726" y="4384548"/>
            <a:ext cx="84124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9237726" y="4896612"/>
            <a:ext cx="207340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Docker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9237726" y="5280660"/>
            <a:ext cx="2073402" cy="5440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Compose stack for every service</a:t>
            </a:r>
            <a:endParaRPr lang="en-US" sz="1600" dirty="0"/>
          </a:p>
        </p:txBody>
      </p:sp>
      <p:pic>
        <p:nvPicPr>
          <p:cNvPr id="46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56032" cy="256032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987552" y="63276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MedOrbit </a:t>
            </a:r>
            <a:endParaRPr lang="en-US" sz="1600" dirty="0"/>
          </a:p>
        </p:txBody>
      </p:sp>
      <p:sp>
        <p:nvSpPr>
          <p:cNvPr id="48" name="Text 44"/>
          <p:cNvSpPr txBox="1"/>
          <p:nvPr/>
        </p:nvSpPr>
        <p:spPr>
          <a:xfrm>
            <a:off x="11000232" y="63276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1417320"/>
            <a:ext cx="155448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</p:spPr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396" y="15544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0" y="4114800"/>
            <a:ext cx="12188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C9D2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0" y="4937760"/>
            <a:ext cx="12188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AB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 Ghassan Abdullah Dawood   ·   Omar Abdullah Sadeq Abu Mazen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1581</Words>
  <Application>Microsoft Office PowerPoint</Application>
  <PresentationFormat>Widescreen</PresentationFormat>
  <Paragraphs>484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35</cp:revision>
  <dcterms:created xsi:type="dcterms:W3CDTF">2026-09-05T07:21:00Z</dcterms:created>
  <dcterms:modified xsi:type="dcterms:W3CDTF">2026-09-08T06:30:15Z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6BBD9030FB8748E1A67855694980685C_13</vt:lpwstr>
  </property>
</Properties>
</file>